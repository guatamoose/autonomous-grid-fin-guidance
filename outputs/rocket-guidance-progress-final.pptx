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summary based on the bench calibration, camera-guidance testing, automatic startup setup, and the 21 Sep 2026 drone-drop recording in this workspace.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Embedded source: outputs/guidance-20260921T120242Z-55c2.mp4. Requested playback interval: 00:35 through 01:00. The video itself carries the guidance rings, lock state, FPS, UTC timestamp, and S7–S10 servo telemetry.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rcRect l="3704" r="3704"/>
          <a:stretch>
            <a:fillRect/>
          </a:stretch>
        </p:blipFill>
        <p:spPr>
          <a:xfrm>
            <a:off x="0" y="0"/>
            <a:ext cx="47625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189C8AC-6F16-4D1A-9778-0B06CDF81A02}"/>
              </a:ext>
            </a:extLst>
          </p:cNvPr>
          <p:cNvSpPr>
            <a:spLocks noGrp="1"/>
          </p:cNvSpPr>
          <p:nvPr/>
        </p:nvSpPr>
        <p:spPr>
          <a:xfrm>
            <a:off x="4724400" y="0"/>
            <a:ext cx="38100" cy="6858000"/>
          </a:xfrm>
          <a:prstGeom prst="rect">
            <a:avLst/>
          </a:prstGeom>
          <a:solidFill>
            <a:srgbClr val="FF7A1A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A1EEF4-811E-4644-B9F4-C457F4F9A341}"/>
              </a:ext>
            </a:extLst>
          </p:cNvPr>
          <p:cNvSpPr>
            <a:spLocks noGrp="1"/>
          </p:cNvSpPr>
          <p:nvPr/>
        </p:nvSpPr>
        <p:spPr>
          <a:xfrm>
            <a:off x="4762500" y="0"/>
            <a:ext cx="7429500" cy="6858000"/>
          </a:xfrm>
          <a:prstGeom prst="rect">
            <a:avLst/>
          </a:prstGeom>
          <a:solidFill>
            <a:srgbClr val="0B1118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2CBD65-B95F-426F-AFEA-59E24982D0D5}"/>
              </a:ext>
            </a:extLst>
          </p:cNvPr>
          <p:cNvSpPr>
            <a:spLocks noGrp="1"/>
          </p:cNvSpPr>
          <p:nvPr/>
        </p:nvSpPr>
        <p:spPr>
          <a:xfrm>
            <a:off x="5257800" y="400050"/>
            <a:ext cx="6381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>
                <a:solidFill>
                  <a:srgbClr val="FF7A1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7A1A"/>
                </a:solidFill>
                <a:latin typeface="Arial"/>
                <a:ea typeface="Arial"/>
                <a:cs typeface="Arial"/>
              </a:rPr>
              <a:t>AUTONOMOUS GRID-FIN LANDING GUIDANCE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7816B8-044B-4FFB-8E67-DE47BF0DD081}"/>
              </a:ext>
            </a:extLst>
          </p:cNvPr>
          <p:cNvSpPr>
            <a:spLocks noGrp="1"/>
          </p:cNvSpPr>
          <p:nvPr/>
        </p:nvSpPr>
        <p:spPr>
          <a:xfrm>
            <a:off x="5257800" y="723900"/>
            <a:ext cx="6381750" cy="666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4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From bare hardware to autonomous guidance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264B8B-B344-44A5-9FA5-A5F5A614AC00}"/>
              </a:ext>
            </a:extLst>
          </p:cNvPr>
          <p:cNvSpPr>
            <a:spLocks noGrp="1"/>
          </p:cNvSpPr>
          <p:nvPr/>
        </p:nvSpPr>
        <p:spPr>
          <a:xfrm>
            <a:off x="5257800" y="1504950"/>
            <a:ext cx="914400" cy="38100"/>
          </a:xfrm>
          <a:prstGeom prst="rect">
            <a:avLst/>
          </a:prstGeom>
          <a:solidFill>
            <a:srgbClr val="FF7A1A"/>
          </a:solidFill>
          <a:ln w="0">
            <a:noFill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D69362B-EFD6-4396-9029-ECDEB14DC7C0}"/>
              </a:ext>
            </a:extLst>
          </p:cNvPr>
          <p:cNvSpPr>
            <a:spLocks noGrp="1"/>
          </p:cNvSpPr>
          <p:nvPr/>
        </p:nvSpPr>
        <p:spPr>
          <a:xfrm>
            <a:off x="5257800" y="17526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186215-60FA-46D2-AB59-B51D7CDF96EE}"/>
              </a:ext>
            </a:extLst>
          </p:cNvPr>
          <p:cNvSpPr>
            <a:spLocks noGrp="1"/>
          </p:cNvSpPr>
          <p:nvPr/>
        </p:nvSpPr>
        <p:spPr>
          <a:xfrm>
            <a:off x="5257800" y="17907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B11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11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7BA27C-D5F9-4C4A-B26B-692F30903435}"/>
              </a:ext>
            </a:extLst>
          </p:cNvPr>
          <p:cNvSpPr>
            <a:spLocks noGrp="1"/>
          </p:cNvSpPr>
          <p:nvPr/>
        </p:nvSpPr>
        <p:spPr>
          <a:xfrm>
            <a:off x="5867400" y="1733550"/>
            <a:ext cx="56578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Hardware integrated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76FFDD-2D61-4213-BA5D-E0713AABD9F9}"/>
              </a:ext>
            </a:extLst>
          </p:cNvPr>
          <p:cNvSpPr>
            <a:spLocks noGrp="1"/>
          </p:cNvSpPr>
          <p:nvPr/>
        </p:nvSpPr>
        <p:spPr>
          <a:xfrm>
            <a:off x="5867400" y="2095500"/>
            <a:ext cx="56578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63" b="0">
                <a:solidFill>
                  <a:srgbClr val="AAB5C3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AB5C3"/>
                </a:solidFill>
                <a:latin typeface="Arial"/>
                <a:ea typeface="Arial"/>
                <a:cs typeface="Arial"/>
              </a:rPr>
              <a:t>Pi Zero 2 W + AI camera, Matek H743 flight controller, and four SG90 grid-fin servos on S7–S10.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15DF4AF-D100-4DAC-80B9-88783FB84D55}"/>
              </a:ext>
            </a:extLst>
          </p:cNvPr>
          <p:cNvSpPr>
            <a:spLocks noGrp="1"/>
          </p:cNvSpPr>
          <p:nvPr/>
        </p:nvSpPr>
        <p:spPr>
          <a:xfrm>
            <a:off x="5257800" y="27813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7C2FF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7F0A67-CF8A-443A-81D8-36F435D2E3DD}"/>
              </a:ext>
            </a:extLst>
          </p:cNvPr>
          <p:cNvSpPr>
            <a:spLocks noGrp="1"/>
          </p:cNvSpPr>
          <p:nvPr/>
        </p:nvSpPr>
        <p:spPr>
          <a:xfrm>
            <a:off x="5257800" y="28194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B11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11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AC0A19-E941-4CEC-A6D6-C317495894FE}"/>
              </a:ext>
            </a:extLst>
          </p:cNvPr>
          <p:cNvSpPr>
            <a:spLocks noGrp="1"/>
          </p:cNvSpPr>
          <p:nvPr/>
        </p:nvSpPr>
        <p:spPr>
          <a:xfrm>
            <a:off x="5867400" y="2762250"/>
            <a:ext cx="56578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Fins mapped and calibrated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3EDF0A-FB44-4141-8884-98AB0D35C92D}"/>
              </a:ext>
            </a:extLst>
          </p:cNvPr>
          <p:cNvSpPr>
            <a:spLocks noGrp="1"/>
          </p:cNvSpPr>
          <p:nvPr/>
        </p:nvSpPr>
        <p:spPr>
          <a:xfrm>
            <a:off x="5867400" y="3124200"/>
            <a:ext cx="56578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63" b="0">
                <a:solidFill>
                  <a:srgbClr val="AAB5C3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AB5C3"/>
                </a:solidFill>
                <a:latin typeface="Arial"/>
                <a:ea typeface="Arial"/>
                <a:cs typeface="Arial"/>
              </a:rPr>
              <a:t>Opposite fins move together for two-axis steering. Every channel is centered and verified through the full ±400 µs range.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70D5844-37B6-498B-B602-5DF37DB7B6F1}"/>
              </a:ext>
            </a:extLst>
          </p:cNvPr>
          <p:cNvSpPr>
            <a:spLocks noGrp="1"/>
          </p:cNvSpPr>
          <p:nvPr/>
        </p:nvSpPr>
        <p:spPr>
          <a:xfrm>
            <a:off x="5257800" y="38100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42D392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348D9B-1CAB-4174-AF0B-BCD999538920}"/>
              </a:ext>
            </a:extLst>
          </p:cNvPr>
          <p:cNvSpPr>
            <a:spLocks noGrp="1"/>
          </p:cNvSpPr>
          <p:nvPr/>
        </p:nvSpPr>
        <p:spPr>
          <a:xfrm>
            <a:off x="5257800" y="38481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B11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11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EA2D-0822-48B8-ADD4-526249276625}"/>
              </a:ext>
            </a:extLst>
          </p:cNvPr>
          <p:cNvSpPr>
            <a:spLocks noGrp="1"/>
          </p:cNvSpPr>
          <p:nvPr/>
        </p:nvSpPr>
        <p:spPr>
          <a:xfrm>
            <a:off x="5867400" y="3790950"/>
            <a:ext cx="56578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Vision guidance running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E18F41-616D-417A-807B-A5158232030C}"/>
              </a:ext>
            </a:extLst>
          </p:cNvPr>
          <p:cNvSpPr>
            <a:spLocks noGrp="1"/>
          </p:cNvSpPr>
          <p:nvPr/>
        </p:nvSpPr>
        <p:spPr>
          <a:xfrm>
            <a:off x="5867400" y="4152900"/>
            <a:ext cx="56578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63" b="0">
                <a:solidFill>
                  <a:srgbClr val="AAB5C3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AB5C3"/>
                </a:solidFill>
                <a:latin typeface="Arial"/>
                <a:ea typeface="Arial"/>
                <a:cs typeface="Arial"/>
              </a:rPr>
              <a:t>Orange-pad tracking centers the target through a 5% dead zone and 100 / 200 / 300 / 400 µs correction bands at about 15 FPS.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AB3CF7F-6E9A-4636-AFAC-5A990980FA02}"/>
              </a:ext>
            </a:extLst>
          </p:cNvPr>
          <p:cNvSpPr>
            <a:spLocks noGrp="1"/>
          </p:cNvSpPr>
          <p:nvPr/>
        </p:nvSpPr>
        <p:spPr>
          <a:xfrm>
            <a:off x="5257800" y="48387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B554FD-DB29-4108-B8C7-53337CB78830}"/>
              </a:ext>
            </a:extLst>
          </p:cNvPr>
          <p:cNvSpPr>
            <a:spLocks noGrp="1"/>
          </p:cNvSpPr>
          <p:nvPr/>
        </p:nvSpPr>
        <p:spPr>
          <a:xfrm>
            <a:off x="5257800" y="4876800"/>
            <a:ext cx="4191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350" b="1">
                <a:solidFill>
                  <a:srgbClr val="0B11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111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643DBE-94E1-4AE1-8171-F0E651C2D825}"/>
              </a:ext>
            </a:extLst>
          </p:cNvPr>
          <p:cNvSpPr>
            <a:spLocks noGrp="1"/>
          </p:cNvSpPr>
          <p:nvPr/>
        </p:nvSpPr>
        <p:spPr>
          <a:xfrm>
            <a:off x="5867400" y="4819650"/>
            <a:ext cx="56578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Autonomous startup and logging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D35D5E-6A80-4CED-83AE-CD029809D9D2}"/>
              </a:ext>
            </a:extLst>
          </p:cNvPr>
          <p:cNvSpPr>
            <a:spLocks noGrp="1"/>
          </p:cNvSpPr>
          <p:nvPr/>
        </p:nvSpPr>
        <p:spPr>
          <a:xfrm>
            <a:off x="5867400" y="5181600"/>
            <a:ext cx="56578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63" b="0">
                <a:solidFill>
                  <a:srgbClr val="AAB5C3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AB5C3"/>
                </a:solidFill>
                <a:latin typeface="Arial"/>
                <a:ea typeface="Arial"/>
                <a:cs typeface="Arial"/>
              </a:rPr>
              <a:t>Guidance starts at power-on and records one-minute clips with detection rings, lock state, UTC time, and live servo commands.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BC93055-9E0C-4B5D-9547-76DEB0A2ECFA}"/>
              </a:ext>
            </a:extLst>
          </p:cNvPr>
          <p:cNvSpPr>
            <a:spLocks noGrp="1"/>
          </p:cNvSpPr>
          <p:nvPr/>
        </p:nvSpPr>
        <p:spPr>
          <a:xfrm>
            <a:off x="5143500" y="5810250"/>
            <a:ext cx="6515100" cy="800100"/>
          </a:xfrm>
          <a:prstGeom prst="roundRect">
            <a:avLst>
              <a:gd name="adj" fmla="val 16667"/>
            </a:avLst>
          </a:prstGeom>
          <a:solidFill>
            <a:srgbClr val="162332"/>
          </a:solidFill>
          <a:ln w="9525">
            <a:solidFill>
              <a:srgbClr val="263748"/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9252DE-42CF-4E2A-8ED2-A2747D61726C}"/>
              </a:ext>
            </a:extLst>
          </p:cNvPr>
          <p:cNvSpPr>
            <a:spLocks noGrp="1"/>
          </p:cNvSpPr>
          <p:nvPr/>
        </p:nvSpPr>
        <p:spPr>
          <a:xfrm>
            <a:off x="5353050" y="5943600"/>
            <a:ext cx="13525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>
                <a:solidFill>
                  <a:srgbClr val="FF7A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7A1A"/>
                </a:solidFill>
                <a:latin typeface="Arial"/>
                <a:ea typeface="Arial"/>
                <a:cs typeface="Arial"/>
              </a:rPr>
              <a:t>CURRENT STATUS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687184-1CE8-4041-A5BD-BE03367FD4C1}"/>
              </a:ext>
            </a:extLst>
          </p:cNvPr>
          <p:cNvSpPr>
            <a:spLocks noGrp="1"/>
          </p:cNvSpPr>
          <p:nvPr/>
        </p:nvSpPr>
        <p:spPr>
          <a:xfrm>
            <a:off x="5353050" y="6143625"/>
            <a:ext cx="6076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5F7FA"/>
                </a:solidFill>
                <a:latin typeface="Arial"/>
                <a:ea typeface="Arial"/>
                <a:cs typeface="Arial"/>
              </a:rPr>
              <a:t>Bench guidance works; the first drone-drop test recorded successfully and exposed the next field challenge: stronger pad contrast and a steadier release.</a:t>
            </a:r>
          </a:p>
        </p:txBody>
      </p:sp>
    </p:spTree>
    <p:extLst>
      <p:ext uri="{BB962C8B-B14F-4D97-AF65-F5344CB8AC3E}">
        <p14:creationId xmlns:p14="http://schemas.microsoft.com/office/powerpoint/2010/main" val="2040461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C28AD81-0076-4E92-BB7B-237F8CA8D0AB}"/>
              </a:ext>
            </a:extLst>
          </p:cNvPr>
          <p:cNvSpPr>
            <a:spLocks noGrp="1"/>
          </p:cNvSpPr>
          <p:nvPr/>
        </p:nvSpPr>
        <p:spPr>
          <a:xfrm>
            <a:off x="552450" y="342900"/>
            <a:ext cx="685800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70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Practice drop review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099F5D7-3998-40E5-B113-C78AE4C2F5DD}"/>
              </a:ext>
            </a:extLst>
          </p:cNvPr>
          <p:cNvSpPr>
            <a:spLocks noGrp="1"/>
          </p:cNvSpPr>
          <p:nvPr/>
        </p:nvSpPr>
        <p:spPr>
          <a:xfrm>
            <a:off x="9829800" y="400050"/>
            <a:ext cx="1809750" cy="400050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AB6A26-FFBC-4B9E-B5D9-09947479958B}"/>
              </a:ext>
            </a:extLst>
          </p:cNvPr>
          <p:cNvSpPr>
            <a:spLocks noGrp="1"/>
          </p:cNvSpPr>
          <p:nvPr/>
        </p:nvSpPr>
        <p:spPr>
          <a:xfrm>
            <a:off x="9829800" y="45720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275" b="1">
                <a:solidFill>
                  <a:srgbClr val="0B11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1118"/>
                </a:solidFill>
                <a:latin typeface="Arial"/>
                <a:ea typeface="Arial"/>
                <a:cs typeface="Arial"/>
              </a:rPr>
              <a:t>00:35–01:00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3C5C4A5-FF87-45D4-B792-541EEB10AEAB}"/>
              </a:ext>
            </a:extLst>
          </p:cNvPr>
          <p:cNvSpPr>
            <a:spLocks noGrp="1"/>
          </p:cNvSpPr>
          <p:nvPr/>
        </p:nvSpPr>
        <p:spPr>
          <a:xfrm>
            <a:off x="476250" y="1104900"/>
            <a:ext cx="7353300" cy="5514975"/>
          </a:xfrm>
          <a:prstGeom prst="roundRect">
            <a:avLst>
              <a:gd name="adj" fmla="val 2418"/>
            </a:avLst>
          </a:prstGeom>
          <a:solidFill>
            <a:srgbClr val="111B26"/>
          </a:solidFill>
          <a:ln w="19050">
            <a:solidFill>
              <a:srgbClr val="263748"/>
            </a:solidFill>
          </a:ln>
        </p:spPr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52450" y="1181100"/>
            <a:ext cx="7200900" cy="54006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DBDE6D7-E847-4115-8AEF-BD74460E0279}"/>
              </a:ext>
            </a:extLst>
          </p:cNvPr>
          <p:cNvSpPr>
            <a:spLocks noGrp="1"/>
          </p:cNvSpPr>
          <p:nvPr/>
        </p:nvSpPr>
        <p:spPr>
          <a:xfrm>
            <a:off x="8248650" y="1276350"/>
            <a:ext cx="3238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1">
                <a:solidFill>
                  <a:srgbClr val="FF7A1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7A1A"/>
                </a:solidFill>
                <a:latin typeface="Arial"/>
                <a:ea typeface="Arial"/>
                <a:cs typeface="Arial"/>
              </a:rPr>
              <a:t>WHAT THE CLIP SHOWS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D740F-9DE1-479A-8799-90B8DF62D766}"/>
              </a:ext>
            </a:extLst>
          </p:cNvPr>
          <p:cNvSpPr>
            <a:spLocks noGrp="1"/>
          </p:cNvSpPr>
          <p:nvPr/>
        </p:nvSpPr>
        <p:spPr>
          <a:xfrm>
            <a:off x="8248650" y="1676400"/>
            <a:ext cx="32385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Camera stayed ground-facing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34D20A-BDD0-44B9-9017-3EF41831BC23}"/>
              </a:ext>
            </a:extLst>
          </p:cNvPr>
          <p:cNvSpPr>
            <a:spLocks noGrp="1"/>
          </p:cNvSpPr>
          <p:nvPr/>
        </p:nvSpPr>
        <p:spPr>
          <a:xfrm>
            <a:off x="8248650" y="2057400"/>
            <a:ext cx="3238500" cy="609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63" b="0">
                <a:solidFill>
                  <a:srgbClr val="AAB5C3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AB5C3"/>
                </a:solidFill>
                <a:latin typeface="Arial"/>
                <a:ea typeface="Arial"/>
                <a:cs typeface="Arial"/>
              </a:rPr>
              <a:t>The vehicle rolled slowly after release, but the camera continued to cover the ground below.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DF9798-54AD-4703-B71E-17E5367C8738}"/>
              </a:ext>
            </a:extLst>
          </p:cNvPr>
          <p:cNvSpPr>
            <a:spLocks noGrp="1"/>
          </p:cNvSpPr>
          <p:nvPr/>
        </p:nvSpPr>
        <p:spPr>
          <a:xfrm>
            <a:off x="8248650" y="2857500"/>
            <a:ext cx="3238500" cy="19050"/>
          </a:xfrm>
          <a:prstGeom prst="rect">
            <a:avLst/>
          </a:prstGeom>
          <a:solidFill>
            <a:srgbClr val="263748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58C7F4-6C3E-4A1A-B06E-50D06A0E2BCC}"/>
              </a:ext>
            </a:extLst>
          </p:cNvPr>
          <p:cNvSpPr>
            <a:spLocks noGrp="1"/>
          </p:cNvSpPr>
          <p:nvPr/>
        </p:nvSpPr>
        <p:spPr>
          <a:xfrm>
            <a:off x="8248650" y="3105150"/>
            <a:ext cx="3238500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Guidance remained in SEARCHING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91BD0E-61C8-43FB-B98E-E721CCB91D5B}"/>
              </a:ext>
            </a:extLst>
          </p:cNvPr>
          <p:cNvSpPr>
            <a:spLocks noGrp="1"/>
          </p:cNvSpPr>
          <p:nvPr/>
        </p:nvSpPr>
        <p:spPr>
          <a:xfrm>
            <a:off x="8248650" y="3695700"/>
            <a:ext cx="3238500" cy="628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63" b="0">
                <a:solidFill>
                  <a:srgbClr val="AAB5C3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AB5C3"/>
                </a:solidFill>
                <a:latin typeface="Arial"/>
                <a:ea typeface="Arial"/>
                <a:cs typeface="Arial"/>
              </a:rPr>
              <a:t>The pad did not lock in this segment, so S7–S10 correctly stayed at their saved neutral positions.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BA6FF4-A877-4761-ADE7-FBD34029F6B8}"/>
              </a:ext>
            </a:extLst>
          </p:cNvPr>
          <p:cNvSpPr>
            <a:spLocks noGrp="1"/>
          </p:cNvSpPr>
          <p:nvPr/>
        </p:nvSpPr>
        <p:spPr>
          <a:xfrm>
            <a:off x="8096250" y="4686300"/>
            <a:ext cx="3543300" cy="1619250"/>
          </a:xfrm>
          <a:prstGeom prst="roundRect">
            <a:avLst>
              <a:gd name="adj" fmla="val 8235"/>
            </a:avLst>
          </a:prstGeom>
          <a:solidFill>
            <a:srgbClr val="162332"/>
          </a:solidFill>
          <a:ln w="9525">
            <a:solidFill>
              <a:srgbClr val="263748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79C3D6-33A8-4EB5-9701-4103C401BB9A}"/>
              </a:ext>
            </a:extLst>
          </p:cNvPr>
          <p:cNvSpPr>
            <a:spLocks noGrp="1"/>
          </p:cNvSpPr>
          <p:nvPr/>
        </p:nvSpPr>
        <p:spPr>
          <a:xfrm>
            <a:off x="8324850" y="4895850"/>
            <a:ext cx="29908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00" b="1">
                <a:solidFill>
                  <a:srgbClr val="42D39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2D392"/>
                </a:solidFill>
                <a:latin typeface="Arial"/>
                <a:ea typeface="Arial"/>
                <a:cs typeface="Arial"/>
              </a:rPr>
              <a:t>NEXT FIELD CHANGE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1209F6-E7F8-42CA-AA2A-1B17CC287138}"/>
              </a:ext>
            </a:extLst>
          </p:cNvPr>
          <p:cNvSpPr>
            <a:spLocks noGrp="1"/>
          </p:cNvSpPr>
          <p:nvPr/>
        </p:nvSpPr>
        <p:spPr>
          <a:xfrm>
            <a:off x="8324850" y="5200650"/>
            <a:ext cx="299085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650" b="1">
                <a:solidFill>
                  <a:srgbClr val="F5F7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5F7FA"/>
                </a:solidFill>
                <a:latin typeface="Arial"/>
                <a:ea typeface="Arial"/>
                <a:cs typeface="Arial"/>
              </a:rPr>
              <a:t>Increase target contrast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FDF2D6-FA58-45E5-9B23-FB1D4D0B8077}"/>
              </a:ext>
            </a:extLst>
          </p:cNvPr>
          <p:cNvSpPr>
            <a:spLocks noGrp="1"/>
          </p:cNvSpPr>
          <p:nvPr/>
        </p:nvSpPr>
        <p:spPr>
          <a:xfrm>
            <a:off x="8324850" y="5600700"/>
            <a:ext cx="2990850" cy="571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63" b="0">
                <a:solidFill>
                  <a:srgbClr val="AAB5C3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AAB5C3"/>
                </a:solidFill>
                <a:latin typeface="Arial"/>
                <a:ea typeface="Arial"/>
                <a:cs typeface="Arial"/>
              </a:rPr>
              <a:t>Use a larger matte-orange pad with a continuous black border, then reduce swing with a steadier drop fixture.</a:t>
            </a:r>
          </a:p>
        </p:txBody>
      </p:sp>
      <p:pic>
        <p:nvPicPr>
          <p:cNvPr id="5" name="Practice Drop Video 00-35 to 01-00" descr="25-second practice-drop video excerpt from 00:35 through 01:00, including guidance rings and servo telemetry.">
            <a:hlinkClick action="ppaction://media"/>
            <a:extLst>
              <a:ext uri="{FF2B5EF4-FFF2-40B4-BE49-F238E27FC236}">
                <a16:creationId xmlns:a16="http://schemas.microsoft.com/office/drawing/2014/main" id="{91E631D0-2FA6-9CEC-A2C7-5ECEB9B8CA0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52450" y="1181100"/>
            <a:ext cx="7200900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862968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</Words>
  <Application>Microsoft Office PowerPoint</Application>
  <DocSecurity>0</DocSecurity>
  <PresentationFormat>Widescreen</PresentationFormat>
  <Paragraphs>28</Paragraphs>
  <Slides>2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remote.admin</cp:lastModifiedBy>
  <cp:revision>1</cp:revision>
  <dcterms:created xsi:type="dcterms:W3CDTF">2026-09-21T16:27:38Z</dcterms:created>
  <dcterms:modified xsi:type="dcterms:W3CDTF">2026-09-21T16:27:51Z</dcterms:modified>
</cp:coreProperties>
</file>